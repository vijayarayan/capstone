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20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65760"/>
            <a:ext cx="128016" cy="128016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1051560"/>
            <a:ext cx="128016" cy="128016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1737360"/>
            <a:ext cx="128016" cy="128016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2423160"/>
            <a:ext cx="128016" cy="128016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3108960"/>
            <a:ext cx="128016" cy="128016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3794760"/>
            <a:ext cx="128016" cy="128016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429768"/>
            <a:ext cx="0" cy="4023360"/>
          </a:xfrm>
          <a:prstGeom prst="line">
            <a:avLst/>
          </a:prstGeom>
          <a:noFill/>
          <a:ln w="12700">
            <a:solidFill>
              <a:srgbClr val="1A3F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"/>
            <a:ext cx="2286000" cy="292608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777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Intelligence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75488" y="166420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75488" y="26334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Platform for Engineering Hiring Analytics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" y="3154680"/>
            <a:ext cx="41148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5488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04288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304288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33088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133088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1888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961888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Domains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 ·  n8n  ·  OpenAI GPT-4o  ·  Pinecone RAG  ·  Streamlit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114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1417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hiring is data-rich but insight-poor.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make decisions on gut feeling, not evidence.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274320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0" y="274320"/>
            <a:ext cx="8229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42976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79392" y="3108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Blind Spots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279392" y="621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produce qualified engineers? Nobody tracks conversion to hire by source.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74720" y="1188720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74720" y="1188720"/>
            <a:ext cx="8229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34416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79392" y="12252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Patterns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279392" y="1536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40% of candidates fail the technical screen? No structured analysis exists.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474720" y="2103120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474720" y="2103120"/>
            <a:ext cx="8229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25856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79392" y="21396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Imbalance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279392" y="2450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interviewers carry 80% of load. Burnout, inconsistency, and delays follow.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474720" y="3017520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474720" y="3017520"/>
            <a:ext cx="8229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172968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79392" y="30540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Leakage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279392" y="3364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candidates decline. Compensation benchmarks and competing offers go untracked.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474720" y="3931920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474720" y="3931920"/>
            <a:ext cx="8229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4087368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279392" y="39684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Blind Spots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279392" y="4279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do candidates stall? No real-time visibility until offers are already lost.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that turns 550 candidates × 3 years of data into actionable intelligence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1609344" cy="2468880"/>
          </a:xfrm>
          <a:prstGeom prst="rect">
            <a:avLst/>
          </a:prstGeom>
          <a:solidFill>
            <a:srgbClr val="0E224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234440"/>
            <a:ext cx="1609344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23444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73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" y="23591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47672" y="1234440"/>
            <a:ext cx="1609344" cy="2468880"/>
          </a:xfrm>
          <a:prstGeom prst="rect">
            <a:avLst/>
          </a:prstGeom>
          <a:solidFill>
            <a:srgbClr val="0E22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47672" y="1234440"/>
            <a:ext cx="1609344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47672" y="123444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7373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20824" y="23591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712464" y="1234440"/>
            <a:ext cx="1609344" cy="2468880"/>
          </a:xfrm>
          <a:prstGeom prst="rect">
            <a:avLst/>
          </a:prstGeom>
          <a:solidFill>
            <a:srgbClr val="0E22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12464" y="1234440"/>
            <a:ext cx="160934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712464" y="123444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7373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85616" y="23591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77256" y="1234440"/>
            <a:ext cx="1609344" cy="2468880"/>
          </a:xfrm>
          <a:prstGeom prst="rect">
            <a:avLst/>
          </a:prstGeom>
          <a:solidFill>
            <a:srgbClr val="0E224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77256" y="1234440"/>
            <a:ext cx="160934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77256" y="123444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73736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50408" y="23591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242048" y="1234440"/>
            <a:ext cx="1609344" cy="2468880"/>
          </a:xfrm>
          <a:prstGeom prst="rect">
            <a:avLst/>
          </a:prstGeom>
          <a:solidFill>
            <a:srgbClr val="0E224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242048" y="1234440"/>
            <a:ext cx="1609344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242048" y="123444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173736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15200" y="23591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274320" y="3822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Supporting Agents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182880" y="4160520"/>
            <a:ext cx="2834640" cy="640080"/>
          </a:xfrm>
          <a:prstGeom prst="rect">
            <a:avLst/>
          </a:prstGeom>
          <a:solidFill>
            <a:srgbClr val="132B52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10896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Routing Agent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10896" y="4443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queries to the right specialist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163824" y="4160520"/>
            <a:ext cx="2834640" cy="640080"/>
          </a:xfrm>
          <a:prstGeom prst="rect">
            <a:avLst/>
          </a:prstGeom>
          <a:solidFill>
            <a:srgbClr val="132B52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329184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Evaluation Agent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291840" y="4443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quality gate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144768" y="4160520"/>
            <a:ext cx="2834640" cy="640080"/>
          </a:xfrm>
          <a:prstGeom prst="rect">
            <a:avLst/>
          </a:prstGeom>
          <a:solidFill>
            <a:srgbClr val="132B52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272784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Optimization Agent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6272784" y="4443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and cost-scores outputs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agentic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1051560"/>
            <a:ext cx="1609344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1051560"/>
            <a:ext cx="160934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05156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591056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6093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(550 candidates)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340864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Historical Dataset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3090672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Structured Data Sheets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73936" y="2770632"/>
            <a:ext cx="164592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8528" y="1051560"/>
            <a:ext cx="1609344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38528" y="1051560"/>
            <a:ext cx="1609344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105156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KNOWLEDGE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29968" y="1591056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16093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Vector Store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29968" y="2340864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'hiring' + 'v1' Indexes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29968" y="3090672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66544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Domain Documents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47872" y="2770632"/>
            <a:ext cx="164592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12464" y="1051560"/>
            <a:ext cx="1609344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12464" y="1051560"/>
            <a:ext cx="1609344" cy="42062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105156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03904" y="1591056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16093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Workflow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03904" y="2340864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Manual Triggers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03904" y="3090672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OAuth2 Nodes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21808" y="2770632"/>
            <a:ext cx="164592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1051560"/>
            <a:ext cx="1609344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0" y="1051560"/>
            <a:ext cx="160934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41264" y="105156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(×8)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1591056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14416" y="16093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 ·  GPT-4o-mini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77840" y="2340864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14416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Output Contract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77840" y="3090672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14416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Eval + Optimize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95744" y="2770632"/>
            <a:ext cx="16459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60336" y="1051560"/>
            <a:ext cx="1609344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60336" y="1051560"/>
            <a:ext cx="1609344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105156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351776" y="1591056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88352" y="16093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351776" y="2340864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88352" y="23591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Webhook Feed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351776" y="3090672"/>
            <a:ext cx="1426464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 Cards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scalable — swap Google Sheets for any database, n8n for Airflow, or Streamlit for Tableau without redesigning agents.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84048" y="7680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engineering candidates · Jun 2022 – May 2025 · 7 structured sheets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207008"/>
            <a:ext cx="1965960" cy="1078992"/>
          </a:xfrm>
          <a:prstGeom prst="rect">
            <a:avLst/>
          </a:prstGeom>
          <a:solidFill>
            <a:srgbClr val="0E2240"/>
          </a:solidFill>
          <a:ln w="12700">
            <a:solidFill>
              <a:srgbClr val="1A3F6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07008"/>
            <a:ext cx="196596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" y="18653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Candidates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07008"/>
            <a:ext cx="1965960" cy="1078992"/>
          </a:xfrm>
          <a:prstGeom prst="rect">
            <a:avLst/>
          </a:prstGeom>
          <a:solidFill>
            <a:srgbClr val="0E2240"/>
          </a:solidFill>
          <a:ln w="12700">
            <a:solidFill>
              <a:srgbClr val="1A3F6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207008"/>
            <a:ext cx="196596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8653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Tracked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36592" y="1207008"/>
            <a:ext cx="1965960" cy="1078992"/>
          </a:xfrm>
          <a:prstGeom prst="rect">
            <a:avLst/>
          </a:prstGeom>
          <a:solidFill>
            <a:srgbClr val="0E2240"/>
          </a:solidFill>
          <a:ln w="12700">
            <a:solidFill>
              <a:srgbClr val="1A3F6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207008"/>
            <a:ext cx="196596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36592" y="18653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Sheets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12864" y="1207008"/>
            <a:ext cx="1965960" cy="1078992"/>
          </a:xfrm>
          <a:prstGeom prst="rect">
            <a:avLst/>
          </a:prstGeom>
          <a:solidFill>
            <a:srgbClr val="0E2240"/>
          </a:solidFill>
          <a:ln w="12700">
            <a:solidFill>
              <a:srgbClr val="1A3F6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12864" y="1207008"/>
            <a:ext cx="196596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12864" y="18653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Offer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2487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Sheets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880360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94944" y="2862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Master</a:t>
            </a:r>
            <a:endParaRPr lang="en-US" sz="1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00984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4944" y="3282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Stages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721608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94944" y="3703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Reasons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142232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4944" y="4123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Details</a:t>
            </a:r>
            <a:endParaRPr lang="en-US" sz="1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2880360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809744" y="2862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Assignments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3300984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809744" y="3282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Channels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3721608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809744" y="3703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Events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217920" y="2377440"/>
            <a:ext cx="2651760" cy="2450592"/>
          </a:xfrm>
          <a:prstGeom prst="rect">
            <a:avLst/>
          </a:prstGeom>
          <a:solidFill>
            <a:srgbClr val="0E2240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26364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Stage Funnel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6309360" y="2761488"/>
            <a:ext cx="21031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8458200" y="27797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 550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6309360" y="3145536"/>
            <a:ext cx="1577340" cy="274320"/>
          </a:xfrm>
          <a:prstGeom prst="rect">
            <a:avLst/>
          </a:prstGeom>
          <a:solidFill>
            <a:srgbClr val="132B52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7932420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 412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6309360" y="3529584"/>
            <a:ext cx="1072591" cy="274320"/>
          </a:xfrm>
          <a:prstGeom prst="rect">
            <a:avLst/>
          </a:prstGeom>
          <a:solidFill>
            <a:srgbClr val="132B52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7427671" y="35478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 280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6309360" y="3913632"/>
            <a:ext cx="567842" cy="274320"/>
          </a:xfrm>
          <a:prstGeom prst="rect">
            <a:avLst/>
          </a:prstGeom>
          <a:solidFill>
            <a:srgbClr val="132B52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922922" y="3931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Round  148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6309360" y="4297680"/>
            <a:ext cx="336499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6691579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 86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grounding every agent in verified hiring knowledge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33856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1155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source docs (6 DOCX + 3 PDF)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all 5 agent domains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02412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133856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77056" y="11155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719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dimensions, OpenAI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02412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13385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1424" y="11155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1719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dual indexes: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'hiring' docs + 'v1' Excel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54096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30358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Query-Time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6393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similarity 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 query context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294436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054096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77056" y="30358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6393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chunks injected into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system prompt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294436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054096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21424" y="30358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54496" y="36393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 backed by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docs + real hiring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  vs  With RAG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069080" cy="3840480"/>
          </a:xfrm>
          <a:prstGeom prst="rect">
            <a:avLst/>
          </a:prstGeom>
          <a:solidFill>
            <a:srgbClr val="0E22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0690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645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responses — no grounding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167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statistics and trends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6883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domain interview standards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278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09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to your actual hiring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agent outputs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5968" y="2267712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069080" cy="3840480"/>
          </a:xfrm>
          <a:prstGeom prst="rect">
            <a:avLst/>
          </a:prstGeom>
          <a:solidFill>
            <a:srgbClr val="0E2240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005840"/>
            <a:ext cx="406908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7488" y="1682496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58384" y="1664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9 domain knowledge documents</a:t>
            </a:r>
            <a:endParaRPr lang="en-US" sz="1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203704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58384" y="2185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real 3-year hiring data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724912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58384" y="27066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standards and rubrics enforced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246120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58384" y="3227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cited with every recommendation</a:t>
            </a:r>
            <a:endParaRPr lang="en-US" sz="1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767328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58384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auditable, confident insights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Output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returns the same 5-field structure — enabling routing, evaluation, and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91440" cy="6766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612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0424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1115568"/>
            <a:ext cx="658368" cy="25603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11155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87552" y="13533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insight or action for the engineering manager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1792224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" y="1792224"/>
            <a:ext cx="91440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4767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7552" y="1828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1901952"/>
            <a:ext cx="658368" cy="256032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83280" y="1901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87552" y="21396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data points, examples, or document references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28600" y="2578608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28600" y="2578608"/>
            <a:ext cx="91440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734056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7552" y="26151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383280" y="2688336"/>
            <a:ext cx="658368" cy="25603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383280" y="26883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987552" y="29260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0.0–1.0 quality score set by the LLM-as-judge evaluation agent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28600" y="3364992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28600" y="3364992"/>
            <a:ext cx="9144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5204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87552" y="34015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cost_of_insight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3383280" y="3474720"/>
            <a:ext cx="658368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383280" y="3474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987552" y="37124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 + model + estimated USD for full transparency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28600" y="4151376"/>
            <a:ext cx="8686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228600" y="4151376"/>
            <a:ext cx="9144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306824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87552" y="41879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3383280" y="4261104"/>
            <a:ext cx="658368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383280" y="4261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987552" y="44988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recommendation when primary is high-risk or blocked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Orchestration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low-code pipeline — every agent step visible, testable, and replaceable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325880" cy="1417320"/>
          </a:xfrm>
          <a:prstGeom prst="rect">
            <a:avLst/>
          </a:prstGeom>
          <a:solidFill>
            <a:srgbClr val="132B5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132588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" y="13716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7744" y="181051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/webhook/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hiring-rag-agent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08760" y="1709928"/>
            <a:ext cx="15544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4208" y="1005840"/>
            <a:ext cx="1325880" cy="1417320"/>
          </a:xfrm>
          <a:prstGeom prst="rect">
            <a:avLst/>
          </a:prstGeom>
          <a:solidFill>
            <a:srgbClr val="132B5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64208" y="1005840"/>
            <a:ext cx="132588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4208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19072" y="13716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19072" y="181051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candidates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sheets OAuth2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90088" y="1709928"/>
            <a:ext cx="155448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45536" y="1005840"/>
            <a:ext cx="1325880" cy="1417320"/>
          </a:xfrm>
          <a:prstGeom prst="rect">
            <a:avLst/>
          </a:prstGeom>
          <a:solidFill>
            <a:srgbClr val="132B52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45536" y="1005840"/>
            <a:ext cx="132588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45536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13716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Query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0" y="181051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'hiring' + 'v1'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71416" y="1709928"/>
            <a:ext cx="155448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005840"/>
            <a:ext cx="1325880" cy="1417320"/>
          </a:xfrm>
          <a:prstGeom prst="rect">
            <a:avLst/>
          </a:prstGeom>
          <a:solidFill>
            <a:srgbClr val="132B52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005840"/>
            <a:ext cx="132588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81728" y="13716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GPT-4o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81728" y="181051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52744" y="1709928"/>
            <a:ext cx="15544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08192" y="1005840"/>
            <a:ext cx="1325880" cy="1417320"/>
          </a:xfrm>
          <a:prstGeom prst="rect">
            <a:avLst/>
          </a:prstGeom>
          <a:solidFill>
            <a:srgbClr val="132B5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08192" y="1005840"/>
            <a:ext cx="13258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63056" y="13716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3056" y="181051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34072" y="1709928"/>
            <a:ext cx="1554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1005840"/>
            <a:ext cx="1325880" cy="1417320"/>
          </a:xfrm>
          <a:prstGeom prst="rect">
            <a:avLst/>
          </a:prstGeom>
          <a:solidFill>
            <a:srgbClr val="132B5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89520" y="1005840"/>
            <a:ext cx="132588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44384" y="13716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44384" y="181051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Streamlit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2724912"/>
            <a:ext cx="2743200" cy="1316736"/>
          </a:xfrm>
          <a:prstGeom prst="rect">
            <a:avLst/>
          </a:prstGeom>
          <a:solidFill>
            <a:srgbClr val="0E2240"/>
          </a:solidFill>
          <a:ln w="12700">
            <a:solidFill>
              <a:srgbClr val="1A3F6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2798064"/>
            <a:ext cx="329184" cy="32918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22960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Triggers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02336" y="3163824"/>
            <a:ext cx="248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(Streamlit) + Manual (n8n dev testing) — both active simultaneously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218688" y="2724912"/>
            <a:ext cx="2743200" cy="1316736"/>
          </a:xfrm>
          <a:prstGeom prst="rect">
            <a:avLst/>
          </a:prstGeom>
          <a:solidFill>
            <a:srgbClr val="0E2240"/>
          </a:solidFill>
          <a:ln w="12700">
            <a:solidFill>
              <a:srgbClr val="1A3F6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2798064"/>
            <a:ext cx="329184" cy="329184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3767328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Data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3346704" y="3163824"/>
            <a:ext cx="248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OAuth2 — no local files; resolves n8n Cloud filesystem limitation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163056" y="2724912"/>
            <a:ext cx="2743200" cy="1316736"/>
          </a:xfrm>
          <a:prstGeom prst="rect">
            <a:avLst/>
          </a:prstGeom>
          <a:solidFill>
            <a:srgbClr val="0E2240"/>
          </a:solidFill>
          <a:ln w="12700">
            <a:solidFill>
              <a:srgbClr val="1A3F6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798064"/>
            <a:ext cx="329184" cy="329184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6711696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Variables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6291072" y="3163824"/>
            <a:ext cx="248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$vars.OPENAI_API_KEY, $vars.PINECONE_API_KEY — consistent credential management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workflow: Hiring_Agent_RAG_v2_Webhook.json  ·  Production URL: agentic06.app.n8n.cloud/webhook/hiring-rag-agent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Agent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outputs from the Hiring Intelligence System — structured, grounded, actionable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279806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05840"/>
            <a:ext cx="27980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058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Quality 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" y="15544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0896" y="179222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Recruiter drives 3.2× more technical-screen passes than Job Boards. Reallocate 30% of Job Board budget.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" y="3017520"/>
            <a:ext cx="2578608" cy="0"/>
          </a:xfrm>
          <a:prstGeom prst="line">
            <a:avLst/>
          </a:prstGeom>
          <a:noFill/>
          <a:ln w="10160">
            <a:solidFill>
              <a:srgbClr val="E2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30723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0896" y="33101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LinkedIn hires, 61% pass rate vs 19% Job Board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" y="3803904"/>
            <a:ext cx="1133856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382219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896" y="402336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572768" y="3803904"/>
            <a:ext cx="1316736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38221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Insight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72768" y="402336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163824" y="1005840"/>
            <a:ext cx="279806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63824" y="1005840"/>
            <a:ext cx="27980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10058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Pattern 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73552" y="15544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73552" y="179222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failures spike in Q1. Introduce structured preparation resources in the sourcing outreach sequence.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73552" y="3017520"/>
            <a:ext cx="2578608" cy="0"/>
          </a:xfrm>
          <a:prstGeom prst="line">
            <a:avLst/>
          </a:prstGeom>
          <a:noFill/>
          <a:ln w="10160">
            <a:solidFill>
              <a:srgbClr val="E2E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30723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73552" y="33101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Q1 rejections cite system design; 12% in Q3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73552" y="3803904"/>
            <a:ext cx="1133856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382219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73552" y="402336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535424" y="3803904"/>
            <a:ext cx="1316736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38221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Insight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35424" y="402336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$0.003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126480" y="1005840"/>
            <a:ext cx="279806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005840"/>
            <a:ext cx="27980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10058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 Agent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15544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36208" y="179222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Offer-stage stall averages 9.4 days. Candidates with competing offers decline within 5 days — implement 48-hr offer SLA.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36208" y="3017520"/>
            <a:ext cx="2578608" cy="0"/>
          </a:xfrm>
          <a:prstGeom prst="line">
            <a:avLst/>
          </a:prstGeom>
          <a:noFill/>
          <a:ln w="10160">
            <a:solidFill>
              <a:srgbClr val="E2EA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30723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36208" y="33101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declined offers; 79% had pending competing offers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36208" y="3803904"/>
            <a:ext cx="1133856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382219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36208" y="402336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498080" y="3803904"/>
            <a:ext cx="1316736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38221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Insight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98080" y="402336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$0.005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open stack — 100% OpenAI · every component enterprise-replaceable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481328"/>
          </a:xfrm>
          <a:prstGeom prst="rect">
            <a:avLst/>
          </a:prstGeom>
          <a:solidFill>
            <a:srgbClr val="0E2240"/>
          </a:solidFill>
          <a:ln w="1524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822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170432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11155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50976" y="1444752"/>
            <a:ext cx="1389888" cy="219456"/>
          </a:xfrm>
          <a:prstGeom prst="rect">
            <a:avLst/>
          </a:prstGeom>
          <a:solidFill>
            <a:srgbClr val="00A896">
              <a:alpha val="7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144475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02336" y="201168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Schedule triggers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output to Streamlit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743200" cy="1481328"/>
          </a:xfrm>
          <a:prstGeom prst="rect">
            <a:avLst/>
          </a:prstGeom>
          <a:solidFill>
            <a:srgbClr val="0E224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005840"/>
            <a:ext cx="274320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170432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77056" y="11155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877056" y="1444752"/>
            <a:ext cx="1389888" cy="219456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77056" y="144475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Agent LLM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328416" y="201168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· Rejection · Offer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agents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26480" y="1005840"/>
            <a:ext cx="2743200" cy="1481328"/>
          </a:xfrm>
          <a:prstGeom prst="rect">
            <a:avLst/>
          </a:prstGeom>
          <a:solidFill>
            <a:srgbClr val="0E224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005840"/>
            <a:ext cx="27432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170432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03136" y="11155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803136" y="1444752"/>
            <a:ext cx="1389888" cy="219456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03136" y="144475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LLM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254496" y="201168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Load · Pipeline Health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agent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74320" y="2670048"/>
            <a:ext cx="2743200" cy="1481328"/>
          </a:xfrm>
          <a:prstGeom prst="rect">
            <a:avLst/>
          </a:prstGeom>
          <a:solidFill>
            <a:srgbClr val="0E224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74320" y="2670048"/>
            <a:ext cx="274320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834640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0976" y="27797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50976" y="3108960"/>
            <a:ext cx="1389888" cy="219456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50976" y="310896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Embeddings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02336" y="36758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dimensions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200400" y="2670048"/>
            <a:ext cx="2743200" cy="1481328"/>
          </a:xfrm>
          <a:prstGeom prst="rect">
            <a:avLst/>
          </a:prstGeom>
          <a:solidFill>
            <a:srgbClr val="0E2240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00400" y="2670048"/>
            <a:ext cx="2743200" cy="82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2834640"/>
            <a:ext cx="420624" cy="42062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877056" y="27797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3877056" y="3108960"/>
            <a:ext cx="1389888" cy="219456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877056" y="310896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3328416" y="36758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'hiring' (docs) + 'v1' (Excel)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Production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126480" y="2670048"/>
            <a:ext cx="2743200" cy="1481328"/>
          </a:xfrm>
          <a:prstGeom prst="rect">
            <a:avLst/>
          </a:prstGeom>
          <a:solidFill>
            <a:srgbClr val="0E2240"/>
          </a:solidFill>
          <a:ln w="1524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126480" y="2670048"/>
            <a:ext cx="2743200" cy="822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834640"/>
            <a:ext cx="420624" cy="42062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803136" y="27797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6803136" y="3108960"/>
            <a:ext cx="1389888" cy="219456"/>
          </a:xfrm>
          <a:prstGeom prst="rect">
            <a:avLst/>
          </a:prstGeom>
          <a:solidFill>
            <a:srgbClr val="00A896">
              <a:alpha val="7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803136" y="310896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Source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6254496" y="36758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5 sheets read per run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candidates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274320" y="4370832"/>
            <a:ext cx="8595360" cy="566928"/>
          </a:xfrm>
          <a:prstGeom prst="rect">
            <a:avLst/>
          </a:prstGeom>
          <a:solidFill>
            <a:srgbClr val="132B52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274320" y="4370832"/>
            <a:ext cx="8595360" cy="822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20624" y="4443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Model Mapping  (from workflow)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347472" y="4645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Sourcing → GPT-4o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1755648" y="4645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Rejection → GPT-4o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3163824" y="4645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Panel Load → GPT-4o-mini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4572000" y="4645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Offer → GPT-4o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5980176" y="4645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Pipeline → GPT-4o-mini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388352" y="4645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Eval → GPT-4o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Design Principles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Hard-won production decisions that shaped the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2452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91440" cy="11521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3544" y="10972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Data Only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23544" y="14264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cannot read local filesystem. Google Sheets via native OAuth2 nodes is the reliable solution.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90872" y="1005840"/>
            <a:ext cx="422452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1005840"/>
            <a:ext cx="91440" cy="11521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704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85816" y="10972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via n8n Variables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85816" y="14264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$vars pattern avoids HTTP header name errors — cleaner than per-node credential objects.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28600" y="2331720"/>
            <a:ext cx="422452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28600" y="2331720"/>
            <a:ext cx="91440" cy="11521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963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" y="24231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Output Contract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23544" y="275234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across all agents enables downstream routing, evaluation and dashboard rendering without bespoke code.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90872" y="2331720"/>
            <a:ext cx="422452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90872" y="2331720"/>
            <a:ext cx="91440" cy="1152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9631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85816" y="24231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Quality Gate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85816" y="275234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 before surfacing to users catches hallucinations and low-confidence outputs automatically.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28600" y="3657600"/>
            <a:ext cx="422452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28600" y="3657600"/>
            <a:ext cx="91440" cy="11521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82219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3544" y="37490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 Transparency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23544" y="407822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includes token count, model used, and USD estimate — critical for production budgeting.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690872" y="3657600"/>
            <a:ext cx="422452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90872" y="3657600"/>
            <a:ext cx="91440" cy="11521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82219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85816" y="37490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Pinecone Indexes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385816" y="407822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'hiring' (docs) and 'v1' (Excel) indexes keep structured and unstructured RAG retrieval clean.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45720" cy="5143500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57200"/>
            <a:ext cx="128016" cy="128016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41664" y="1261872"/>
            <a:ext cx="128016" cy="128016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2066544"/>
            <a:ext cx="128016" cy="128016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41664" y="2871216"/>
            <a:ext cx="128016" cy="128016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3675888"/>
            <a:ext cx="128016" cy="128016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Intelligence System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hiring data into engineering-grade decisions.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5029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340864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23225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AI agents · 5 insight domains · 3 support layers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77977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27614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on 9 domain documents + 550-candidate dataset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1868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6384" y="32004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output contract enables evaluation, routing &amp; comparison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65760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6384" y="3639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 transparency — every insight tracked to the cent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096512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6384" y="407822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stack: n8n · GPT-4o · Pinecone · Streamlit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80F1E"/>
          </a:solidFill>
          <a:ln w="12700">
            <a:solidFill>
              <a:srgbClr val="080F1E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2  ·  Applied Agentic AI for Engineering Managers  ·  2025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4937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pipeline — data ingest → routing → insight agents → RAG → evaluation →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896112"/>
            <a:ext cx="2560320" cy="384048"/>
          </a:xfrm>
          <a:prstGeom prst="rect">
            <a:avLst/>
          </a:prstGeom>
          <a:solidFill>
            <a:srgbClr val="D4D9E8"/>
          </a:solidFill>
          <a:ln w="12700">
            <a:solidFill>
              <a:srgbClr val="D4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89504" y="932688"/>
            <a:ext cx="245059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2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 &amp; Cleaner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71216" y="1080455"/>
            <a:ext cx="248716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mock ATS → normalised JSON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" y="914400"/>
            <a:ext cx="457200" cy="237744"/>
          </a:xfrm>
          <a:prstGeom prst="rect">
            <a:avLst/>
          </a:prstGeom>
          <a:solidFill>
            <a:srgbClr val="5B6688">
              <a:alpha val="70000"/>
            </a:srgbClr>
          </a:solidFill>
          <a:ln w="12700">
            <a:solidFill>
              <a:srgbClr val="5B66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" y="9144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114800" y="1280160"/>
            <a:ext cx="0" cy="10972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59936" y="131673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31673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389888"/>
            <a:ext cx="2560320" cy="402336"/>
          </a:xfrm>
          <a:prstGeom prst="rect">
            <a:avLst/>
          </a:prstGeom>
          <a:solidFill>
            <a:srgbClr val="B8C3E0"/>
          </a:solidFill>
          <a:ln w="12700">
            <a:solidFill>
              <a:srgbClr val="B8C3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89504" y="1426464"/>
            <a:ext cx="2450592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71216" y="1583009"/>
            <a:ext cx="2487168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model per task complexity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" y="1463040"/>
            <a:ext cx="457200" cy="237744"/>
          </a:xfrm>
          <a:prstGeom prst="rect">
            <a:avLst/>
          </a:prstGeom>
          <a:solidFill>
            <a:srgbClr val="3D4F7A">
              <a:alpha val="70000"/>
            </a:srgbClr>
          </a:solidFill>
          <a:ln w="12700">
            <a:solidFill>
              <a:srgbClr val="3D4F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" y="14630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D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30352" y="14813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30352" y="16459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536192" y="1554480"/>
            <a:ext cx="129844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61488" y="1508760"/>
            <a:ext cx="73152" cy="45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61488" y="1554480"/>
            <a:ext cx="73152" cy="45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36192" y="1728216"/>
            <a:ext cx="12984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252728" y="1792224"/>
            <a:ext cx="2862072" cy="128016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2728" y="1920240"/>
            <a:ext cx="0" cy="1828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7864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2728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23160" y="1792224"/>
            <a:ext cx="1691640" cy="128016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1920240"/>
            <a:ext cx="0" cy="1828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68296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93592" y="1792224"/>
            <a:ext cx="521208" cy="128016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93592" y="1920240"/>
            <a:ext cx="0" cy="1828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38728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93592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1792224"/>
            <a:ext cx="2313432" cy="128016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28232" y="1920240"/>
            <a:ext cx="0" cy="1828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0" y="1792224"/>
            <a:ext cx="3483864" cy="128016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98664" y="1920240"/>
            <a:ext cx="0" cy="1828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43800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98664" y="18653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0" y="1792224"/>
            <a:ext cx="0" cy="12801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59936" y="1847088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1847088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1920240"/>
            <a:ext cx="1371600" cy="566928"/>
          </a:xfrm>
          <a:prstGeom prst="rect">
            <a:avLst/>
          </a:prstGeom>
          <a:solidFill>
            <a:srgbClr val="A8D8C8"/>
          </a:solidFill>
          <a:ln w="12700">
            <a:solidFill>
              <a:srgbClr val="A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21792" y="1956816"/>
            <a:ext cx="1261872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3504" y="2192365"/>
            <a:ext cx="129844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channels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role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737360" y="1920240"/>
            <a:ext cx="1371600" cy="566928"/>
          </a:xfrm>
          <a:prstGeom prst="rect">
            <a:avLst/>
          </a:prstGeom>
          <a:solidFill>
            <a:srgbClr val="A8D8C8"/>
          </a:solidFill>
          <a:ln w="12700">
            <a:solidFill>
              <a:srgbClr val="A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792224" y="1956816"/>
            <a:ext cx="1261872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773936" y="2192365"/>
            <a:ext cx="129844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 role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907792" y="1920240"/>
            <a:ext cx="1371600" cy="566928"/>
          </a:xfrm>
          <a:prstGeom prst="rect">
            <a:avLst/>
          </a:prstGeom>
          <a:solidFill>
            <a:srgbClr val="A8D8C8"/>
          </a:solidFill>
          <a:ln w="12700">
            <a:solidFill>
              <a:srgbClr val="A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962656" y="1956816"/>
            <a:ext cx="1261872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944368" y="2192365"/>
            <a:ext cx="129844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742432" y="1920240"/>
            <a:ext cx="1371600" cy="566928"/>
          </a:xfrm>
          <a:prstGeom prst="rect">
            <a:avLst/>
          </a:prstGeom>
          <a:solidFill>
            <a:srgbClr val="A8D8C8"/>
          </a:solidFill>
          <a:ln w="12700">
            <a:solidFill>
              <a:srgbClr val="A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797296" y="1956816"/>
            <a:ext cx="1261872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779008" y="2192365"/>
            <a:ext cx="129844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912864" y="1920240"/>
            <a:ext cx="1371600" cy="566928"/>
          </a:xfrm>
          <a:prstGeom prst="rect">
            <a:avLst/>
          </a:prstGeom>
          <a:solidFill>
            <a:srgbClr val="A8D8C8"/>
          </a:solidFill>
          <a:ln w="12700">
            <a:solidFill>
              <a:srgbClr val="A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967728" y="1956816"/>
            <a:ext cx="1261872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949440" y="2192365"/>
            <a:ext cx="129844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funnel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252728" y="2624328"/>
            <a:ext cx="2862072" cy="9144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52728" y="2487168"/>
            <a:ext cx="0" cy="1371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97864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52728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23160" y="2624328"/>
            <a:ext cx="1691640" cy="9144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423160" y="2487168"/>
            <a:ext cx="0" cy="1371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68296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23160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93592" y="2624328"/>
            <a:ext cx="521208" cy="9144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93592" y="2487168"/>
            <a:ext cx="0" cy="1371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38728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93592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14800" y="2624328"/>
            <a:ext cx="2313432" cy="9144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28232" y="2487168"/>
            <a:ext cx="0" cy="1371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73368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28232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14800" y="2624328"/>
            <a:ext cx="3483864" cy="9144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598664" y="2487168"/>
            <a:ext cx="0" cy="1371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43800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98664" y="255117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011680" y="2651760"/>
            <a:ext cx="5120640" cy="365760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066544" y="2688336"/>
            <a:ext cx="5010912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Output Contract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2048256" y="2827325"/>
            <a:ext cx="50474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· evidence · confidence · cost · alternative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114800" y="3017520"/>
            <a:ext cx="0" cy="10972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059936" y="305409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14800" y="3054096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576" y="2907792"/>
            <a:ext cx="457200" cy="237744"/>
          </a:xfrm>
          <a:prstGeom prst="rect">
            <a:avLst/>
          </a:prstGeom>
          <a:solidFill>
            <a:srgbClr val="3A6A9A">
              <a:alpha val="70000"/>
            </a:srgbClr>
          </a:solidFill>
          <a:ln w="12700">
            <a:solidFill>
              <a:srgbClr val="3A6A9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" y="29077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2286000" y="2907792"/>
            <a:ext cx="2011680" cy="457200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2340864" y="294436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Retriever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2322576" y="312724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 → top_k chunks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filter: role / stage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846320" y="2907792"/>
            <a:ext cx="2011680" cy="457200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4901184" y="294436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4882896" y="312724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· rejection history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targets · offer outcomes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297680" y="3136392"/>
            <a:ext cx="5486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73168" y="3090672"/>
            <a:ext cx="73152" cy="45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73168" y="3136392"/>
            <a:ext cx="73152" cy="45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846320" y="3136392"/>
            <a:ext cx="-548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4114800" y="3364992"/>
            <a:ext cx="0" cy="10972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59936" y="3401568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114800" y="3401568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" y="3419856"/>
            <a:ext cx="457200" cy="237744"/>
          </a:xfrm>
          <a:prstGeom prst="rect">
            <a:avLst/>
          </a:prstGeom>
          <a:solidFill>
            <a:srgbClr val="6A3A3A">
              <a:alpha val="70000"/>
            </a:srgbClr>
          </a:solidFill>
          <a:ln w="12700">
            <a:solidFill>
              <a:srgbClr val="6A3A3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576" y="3419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3291840" y="3456432"/>
            <a:ext cx="2560320" cy="457200"/>
          </a:xfrm>
          <a:prstGeom prst="rect">
            <a:avLst/>
          </a:prstGeom>
          <a:solidFill>
            <a:srgbClr val="C8B8E0"/>
          </a:solidFill>
          <a:ln w="12700">
            <a:solidFill>
              <a:srgbClr val="C8B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3346704" y="349300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 (n8n)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3328416" y="36758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agents, handles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retries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566928" y="3456432"/>
            <a:ext cx="2103120" cy="457200"/>
          </a:xfrm>
          <a:prstGeom prst="rect">
            <a:avLst/>
          </a:prstGeom>
          <a:solidFill>
            <a:srgbClr val="E8C4B8"/>
          </a:solidFill>
          <a:ln w="12700">
            <a:solidFill>
              <a:srgbClr val="E8C4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621792" y="34930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Agent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603504" y="36758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 · grounding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 score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291840" y="3685032"/>
            <a:ext cx="-6217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596896" y="3639312"/>
            <a:ext cx="73152" cy="45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596896" y="3685032"/>
            <a:ext cx="73152" cy="45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473952" y="3456432"/>
            <a:ext cx="2103120" cy="457200"/>
          </a:xfrm>
          <a:prstGeom prst="rect">
            <a:avLst/>
          </a:prstGeom>
          <a:solidFill>
            <a:srgbClr val="E8D8B8"/>
          </a:solidFill>
          <a:ln w="12700">
            <a:solidFill>
              <a:srgbClr val="E8D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6528816" y="34930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Agent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6510528" y="36758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tracking · caching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cost report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5852160" y="3685032"/>
            <a:ext cx="6217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400800" y="3639312"/>
            <a:ext cx="73152" cy="45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400800" y="3685032"/>
            <a:ext cx="73152" cy="457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6928" y="3986784"/>
            <a:ext cx="2103120" cy="384048"/>
          </a:xfrm>
          <a:prstGeom prst="rect">
            <a:avLst/>
          </a:prstGeom>
          <a:solidFill>
            <a:srgbClr val="E8C4B8"/>
          </a:solidFill>
          <a:ln w="12700">
            <a:solidFill>
              <a:srgbClr val="E8C4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2" name="Text 120"/>
          <p:cNvSpPr/>
          <p:nvPr/>
        </p:nvSpPr>
        <p:spPr>
          <a:xfrm>
            <a:off x="621792" y="4023360"/>
            <a:ext cx="199339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</a:t>
            </a:r>
            <a:endParaRPr lang="en-US" sz="950" dirty="0"/>
          </a:p>
        </p:txBody>
      </p:sp>
      <p:sp>
        <p:nvSpPr>
          <p:cNvPr id="123" name="Text 121"/>
          <p:cNvSpPr/>
          <p:nvPr/>
        </p:nvSpPr>
        <p:spPr>
          <a:xfrm>
            <a:off x="603504" y="4171127"/>
            <a:ext cx="202996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validated scenarios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1618488" y="3913632"/>
            <a:ext cx="0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563624" y="3913632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618488" y="3913632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73952" y="3986784"/>
            <a:ext cx="2103120" cy="384048"/>
          </a:xfrm>
          <a:prstGeom prst="rect">
            <a:avLst/>
          </a:prstGeom>
          <a:solidFill>
            <a:srgbClr val="E8D8B8"/>
          </a:solidFill>
          <a:ln w="12700">
            <a:solidFill>
              <a:srgbClr val="E8D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6528816" y="4023360"/>
            <a:ext cx="199339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Log</a:t>
            </a:r>
            <a:endParaRPr lang="en-US" sz="950" dirty="0"/>
          </a:p>
        </p:txBody>
      </p:sp>
      <p:sp>
        <p:nvSpPr>
          <p:cNvPr id="129" name="Text 127"/>
          <p:cNvSpPr/>
          <p:nvPr/>
        </p:nvSpPr>
        <p:spPr>
          <a:xfrm>
            <a:off x="6510528" y="4171127"/>
            <a:ext cx="202996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· latency · USD/run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7525512" y="3913632"/>
            <a:ext cx="0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70648" y="3913632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25512" y="3913632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618488" y="4370832"/>
            <a:ext cx="0" cy="914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63624" y="4389120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618488" y="4389120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114800" y="3611880"/>
            <a:ext cx="0" cy="85039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059936" y="4389120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114800" y="4389120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525512" y="4370832"/>
            <a:ext cx="0" cy="914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470648" y="4389120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525512" y="4389120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618488" y="4462272"/>
            <a:ext cx="5907024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114800" y="4462272"/>
            <a:ext cx="0" cy="914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059936" y="4480560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14800" y="4480560"/>
            <a:ext cx="54864" cy="731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576" y="4407408"/>
            <a:ext cx="457200" cy="237744"/>
          </a:xfrm>
          <a:prstGeom prst="rect">
            <a:avLst/>
          </a:prstGeom>
          <a:solidFill>
            <a:srgbClr val="2A6A2A">
              <a:alpha val="70000"/>
            </a:srgbClr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6576" y="44074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2286000" y="4553712"/>
            <a:ext cx="4572000" cy="457200"/>
          </a:xfrm>
          <a:prstGeom prst="rect">
            <a:avLst/>
          </a:prstGeom>
          <a:solidFill>
            <a:srgbClr val="B8D8B8"/>
          </a:solidFill>
          <a:ln w="12700">
            <a:solidFill>
              <a:srgbClr val="B8D8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9" name="Text 147"/>
          <p:cNvSpPr/>
          <p:nvPr/>
        </p:nvSpPr>
        <p:spPr>
          <a:xfrm>
            <a:off x="2340864" y="4590288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950" dirty="0"/>
          </a:p>
        </p:txBody>
      </p:sp>
      <p:sp>
        <p:nvSpPr>
          <p:cNvPr id="150" name="Text 148"/>
          <p:cNvSpPr/>
          <p:nvPr/>
        </p:nvSpPr>
        <p:spPr>
          <a:xfrm>
            <a:off x="2322576" y="4773168"/>
            <a:ext cx="4498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metrics · agent insights · eval scores · cost &amp; latency · one-click re-run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566928" y="4754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566928" y="4919472"/>
            <a:ext cx="146304" cy="109728"/>
          </a:xfrm>
          <a:prstGeom prst="rect">
            <a:avLst/>
          </a:prstGeom>
          <a:solidFill>
            <a:srgbClr val="A8D8C8"/>
          </a:solidFill>
          <a:ln w="12700">
            <a:solidFill>
              <a:srgbClr val="A8D8C8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49808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agents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1984248" y="4919472"/>
            <a:ext cx="146304" cy="109728"/>
          </a:xfrm>
          <a:prstGeom prst="rect">
            <a:avLst/>
          </a:prstGeom>
          <a:solidFill>
            <a:srgbClr val="B8C3E0"/>
          </a:solidFill>
          <a:ln w="12700">
            <a:solidFill>
              <a:srgbClr val="B8C3E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2167128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/ Orchestration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3401568" y="4919472"/>
            <a:ext cx="146304" cy="109728"/>
          </a:xfrm>
          <a:prstGeom prst="rect">
            <a:avLst/>
          </a:prstGeom>
          <a:solidFill>
            <a:srgbClr val="E8C4B8"/>
          </a:solidFill>
          <a:ln w="12700">
            <a:solidFill>
              <a:srgbClr val="E8C4B8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584448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650" dirty="0"/>
          </a:p>
        </p:txBody>
      </p:sp>
      <p:sp>
        <p:nvSpPr>
          <p:cNvPr id="158" name="Shape 156"/>
          <p:cNvSpPr/>
          <p:nvPr/>
        </p:nvSpPr>
        <p:spPr>
          <a:xfrm>
            <a:off x="4818888" y="4919472"/>
            <a:ext cx="146304" cy="109728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001768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6236208" y="4919472"/>
            <a:ext cx="146304" cy="109728"/>
          </a:xfrm>
          <a:prstGeom prst="rect">
            <a:avLst/>
          </a:prstGeom>
          <a:solidFill>
            <a:srgbClr val="E8D8B8"/>
          </a:solidFill>
          <a:ln w="12700">
            <a:solidFill>
              <a:srgbClr val="E8D8B8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419088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observability</a:t>
            </a:r>
            <a:endParaRPr lang="en-US" sz="650" dirty="0"/>
          </a:p>
        </p:txBody>
      </p:sp>
      <p:sp>
        <p:nvSpPr>
          <p:cNvPr id="162" name="Shape 160"/>
          <p:cNvSpPr/>
          <p:nvPr/>
        </p:nvSpPr>
        <p:spPr>
          <a:xfrm>
            <a:off x="7653528" y="4919472"/>
            <a:ext cx="146304" cy="109728"/>
          </a:xfrm>
          <a:prstGeom prst="rect">
            <a:avLst/>
          </a:prstGeom>
          <a:solidFill>
            <a:srgbClr val="B8D8B8"/>
          </a:solidFill>
          <a:ln w="12700">
            <a:solidFill>
              <a:srgbClr val="B8D8B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836408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Hiring Intelligence System — Capstone</dc:title>
  <dc:subject>PptxGenJS Presentation</dc:subject>
  <dc:creator>PptxGenJS</dc:creator>
  <cp:lastModifiedBy>PptxGenJS</cp:lastModifiedBy>
  <cp:revision>1</cp:revision>
  <dcterms:created xsi:type="dcterms:W3CDTF">2026-06-07T15:34:18Z</dcterms:created>
  <dcterms:modified xsi:type="dcterms:W3CDTF">2026-06-07T15:34:18Z</dcterms:modified>
</cp:coreProperties>
</file>